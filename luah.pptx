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7772400" cy="100584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4E3"/>
    <a:srgbClr val="002060"/>
    <a:srgbClr val="E2F0D9"/>
    <a:srgbClr val="DDD0B7"/>
    <a:srgbClr val="C1B1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4" autoAdjust="0"/>
    <p:restoredTop sz="94660"/>
  </p:normalViewPr>
  <p:slideViewPr>
    <p:cSldViewPr snapToGrid="0">
      <p:cViewPr>
        <p:scale>
          <a:sx n="50" d="100"/>
          <a:sy n="50" d="100"/>
        </p:scale>
        <p:origin x="1986" y="1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5B471E-2D90-49BC-A0B2-2FC9EAC1BE17}" type="datetimeFigureOut">
              <a:rPr lang="LID4096" smtClean="0"/>
              <a:t>10/07/2026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048A-9FF3-42A8-9F95-F29AC97CB98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78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1048A-9FF3-42A8-9F95-F29AC97CB98C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508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9AE77-7776-4BD1-AB5A-EEC0F4189CFB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B16A08-1D49-4D05-8222-C635F143A34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903630-ED88-4EE1-8544-B15362092D5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8EDF7-AE9E-4A28-94A9-890CC40594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IL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A1531D-7388-46B1-B8B8-68A23A8BC79A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22409-5C0F-4E6F-BB09-DE198C25E6B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8C7008-9342-4EA7-B80A-31098A996368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L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C1B76E-2C69-4E12-8968-8BD01CE3FB9D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D535B1-ACF6-4587-9162-5B5394E6C0A2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FC6495-8D79-4CFF-B5E9-679EA4901923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7D9BC1-D170-4732-A7B4-8079B5F63717}" type="slidenum">
              <a:rPr lang="en-I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Cartoon Clock Png"/>
          <p:cNvPicPr/>
          <p:nvPr/>
        </p:nvPicPr>
        <p:blipFill>
          <a:blip r:embed="rId3"/>
          <a:stretch/>
        </p:blipFill>
        <p:spPr>
          <a:xfrm>
            <a:off x="8460000" y="3106800"/>
            <a:ext cx="3542400" cy="354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44"/>
          <p:cNvSpPr/>
          <p:nvPr/>
        </p:nvSpPr>
        <p:spPr>
          <a:xfrm>
            <a:off x="325440" y="331200"/>
            <a:ext cx="3049560" cy="33760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5"/>
          <p:cNvSpPr/>
          <p:nvPr/>
        </p:nvSpPr>
        <p:spPr>
          <a:xfrm>
            <a:off x="8458200" y="3106800"/>
            <a:ext cx="3542400" cy="3542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dtFullZmanim_0"/>
          <p:cNvSpPr/>
          <p:nvPr/>
        </p:nvSpPr>
        <p:spPr>
          <a:xfrm>
            <a:off x="1134360" y="880560"/>
            <a:ext cx="143388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10"/>
          <p:cNvSpPr/>
          <p:nvPr/>
        </p:nvSpPr>
        <p:spPr>
          <a:xfrm>
            <a:off x="8644680" y="293760"/>
            <a:ext cx="3181680" cy="2482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dtHebDate_0"/>
          <p:cNvSpPr/>
          <p:nvPr/>
        </p:nvSpPr>
        <p:spPr>
          <a:xfrm>
            <a:off x="9489240" y="33120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dtDayZmanim_0"/>
          <p:cNvSpPr/>
          <p:nvPr/>
        </p:nvSpPr>
        <p:spPr>
          <a:xfrm>
            <a:off x="9468000" y="89964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dtDafYomi_0"/>
          <p:cNvSpPr/>
          <p:nvPr/>
        </p:nvSpPr>
        <p:spPr>
          <a:xfrm>
            <a:off x="9588600" y="1980000"/>
            <a:ext cx="118908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#DAFYOMI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2"/>
          <p:cNvSpPr/>
          <p:nvPr/>
        </p:nvSpPr>
        <p:spPr>
          <a:xfrm>
            <a:off x="3727080" y="112680"/>
            <a:ext cx="4565520" cy="6550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14"/>
          <p:cNvPicPr/>
          <p:nvPr/>
        </p:nvPicPr>
        <p:blipFill>
          <a:blip r:embed="rId4"/>
          <a:stretch/>
        </p:blipFill>
        <p:spPr>
          <a:xfrm>
            <a:off x="3848400" y="221760"/>
            <a:ext cx="1003680" cy="69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6"/>
          <p:cNvSpPr/>
          <p:nvPr/>
        </p:nvSpPr>
        <p:spPr>
          <a:xfrm>
            <a:off x="3802320" y="1383480"/>
            <a:ext cx="4424040" cy="5191920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19"/>
          <p:cNvSpPr/>
          <p:nvPr/>
        </p:nvSpPr>
        <p:spPr>
          <a:xfrm>
            <a:off x="6094800" y="177228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1"/>
          <p:cNvSpPr/>
          <p:nvPr/>
        </p:nvSpPr>
        <p:spPr>
          <a:xfrm>
            <a:off x="6094800" y="227232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שיר השירים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2"/>
          <p:cNvSpPr/>
          <p:nvPr/>
        </p:nvSpPr>
        <p:spPr>
          <a:xfrm>
            <a:off x="6094800" y="27756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23"/>
          <p:cNvSpPr/>
          <p:nvPr/>
        </p:nvSpPr>
        <p:spPr>
          <a:xfrm>
            <a:off x="6094800" y="32763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שחרית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5"/>
          <p:cNvSpPr/>
          <p:nvPr/>
        </p:nvSpPr>
        <p:spPr>
          <a:xfrm>
            <a:off x="4986000" y="3778920"/>
            <a:ext cx="3192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תפילת ילדים אחרי מוסף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6"/>
          <p:cNvSpPr/>
          <p:nvPr/>
        </p:nvSpPr>
        <p:spPr>
          <a:xfrm>
            <a:off x="6094800" y="427896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תהילים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7"/>
          <p:cNvSpPr/>
          <p:nvPr/>
        </p:nvSpPr>
        <p:spPr>
          <a:xfrm>
            <a:off x="6094800" y="478224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שיעור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28"/>
          <p:cNvSpPr/>
          <p:nvPr/>
        </p:nvSpPr>
        <p:spPr>
          <a:xfrm>
            <a:off x="6094800" y="5283000"/>
            <a:ext cx="20844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מנחה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29"/>
          <p:cNvSpPr/>
          <p:nvPr/>
        </p:nvSpPr>
        <p:spPr>
          <a:xfrm>
            <a:off x="5608800" y="5785560"/>
            <a:ext cx="25909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</a:rPr>
              <a:t>ערבית וצאת שבת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30"/>
          <p:cNvSpPr/>
          <p:nvPr/>
        </p:nvSpPr>
        <p:spPr>
          <a:xfrm>
            <a:off x="3853440" y="3778920"/>
            <a:ext cx="113112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Microsoft JhengHei UI Light"/>
            </a:endParaRPr>
          </a:p>
        </p:txBody>
      </p:sp>
      <p:sp>
        <p:nvSpPr>
          <p:cNvPr id="83" name="Rectangle 31"/>
          <p:cNvSpPr/>
          <p:nvPr/>
        </p:nvSpPr>
        <p:spPr>
          <a:xfrm>
            <a:off x="3853440" y="327636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08:15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32"/>
          <p:cNvSpPr/>
          <p:nvPr/>
        </p:nvSpPr>
        <p:spPr>
          <a:xfrm>
            <a:off x="3853440" y="47826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33"/>
          <p:cNvSpPr/>
          <p:nvPr/>
        </p:nvSpPr>
        <p:spPr>
          <a:xfrm>
            <a:off x="3853440" y="428040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17:00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dtMinha_1"/>
          <p:cNvSpPr/>
          <p:nvPr/>
        </p:nvSpPr>
        <p:spPr>
          <a:xfrm>
            <a:off x="3853800" y="2774880"/>
            <a:ext cx="199800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#MINHA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dtShir_1"/>
          <p:cNvSpPr/>
          <p:nvPr/>
        </p:nvSpPr>
        <p:spPr>
          <a:xfrm>
            <a:off x="3853800" y="227232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#SHIR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dtNerot_1"/>
          <p:cNvSpPr/>
          <p:nvPr/>
        </p:nvSpPr>
        <p:spPr>
          <a:xfrm>
            <a:off x="3853440" y="1771560"/>
            <a:ext cx="1490760" cy="82980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#SUNSET-01:30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7"/>
          <p:cNvSpPr/>
          <p:nvPr/>
        </p:nvSpPr>
        <p:spPr>
          <a:xfrm>
            <a:off x="3853440" y="5286240"/>
            <a:ext cx="149076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18:15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dtMozash_1"/>
          <p:cNvSpPr/>
          <p:nvPr/>
        </p:nvSpPr>
        <p:spPr>
          <a:xfrm>
            <a:off x="3853440" y="5786640"/>
            <a:ext cx="1850040" cy="460440"/>
          </a:xfrm>
          <a:prstGeom prst="rect">
            <a:avLst/>
          </a:prstGeom>
          <a:solidFill>
            <a:srgbClr val="60627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48"/>
          <p:cNvSpPr/>
          <p:nvPr/>
        </p:nvSpPr>
        <p:spPr>
          <a:xfrm>
            <a:off x="430920" y="377280"/>
            <a:ext cx="287388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dtParsha_1"/>
          <p:cNvSpPr/>
          <p:nvPr/>
        </p:nvSpPr>
        <p:spPr>
          <a:xfrm>
            <a:off x="3802320" y="917640"/>
            <a:ext cx="442404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400" b="1" u="none" strike="noStrike" dirty="0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10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7"/>
          <p:cNvSpPr/>
          <p:nvPr/>
        </p:nvSpPr>
        <p:spPr>
          <a:xfrm>
            <a:off x="1125360" y="1852560"/>
            <a:ext cx="9803160" cy="31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6600" b="1" u="none" strike="noStrike" dirty="0">
                <a:ln>
                  <a:solidFill>
                    <a:schemeClr val="accent2"/>
                  </a:solidFill>
                </a:ln>
                <a:solidFill>
                  <a:srgbClr val="FFFFFF"/>
                </a:solidFill>
                <a:effectLst/>
                <a:uFillTx/>
                <a:latin typeface="Calibri"/>
              </a:rPr>
              <a:t>שכונת נוה שיר מקדמת את כל האורחים הבאים בשעריה בברכת שבת שלום</a:t>
            </a:r>
            <a:endParaRPr lang="en-US" sz="6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430920" y="613764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#HIDDEN _NONCHOLONLY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00000" sy="100000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 descr="Cartoon Clock Png"/>
          <p:cNvPicPr/>
          <p:nvPr/>
        </p:nvPicPr>
        <p:blipFill>
          <a:blip r:embed="rId3"/>
          <a:stretch/>
        </p:blipFill>
        <p:spPr>
          <a:xfrm>
            <a:off x="4611600" y="1603080"/>
            <a:ext cx="2999520" cy="299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1"/>
          <p:cNvSpPr/>
          <p:nvPr/>
        </p:nvSpPr>
        <p:spPr>
          <a:xfrm>
            <a:off x="8032680" y="2962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dtFullZmanim_0"/>
          <p:cNvSpPr/>
          <p:nvPr/>
        </p:nvSpPr>
        <p:spPr>
          <a:xfrm>
            <a:off x="8065080" y="3505320"/>
            <a:ext cx="3510360" cy="3373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#FULLZMANIM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8149320" y="3043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זמני היום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8276760" y="1067760"/>
            <a:ext cx="3181680" cy="16632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dtHebDate_0"/>
          <p:cNvSpPr/>
          <p:nvPr/>
        </p:nvSpPr>
        <p:spPr>
          <a:xfrm>
            <a:off x="9121320" y="1105560"/>
            <a:ext cx="15069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#HEBDATE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dtDayZmanim_0"/>
          <p:cNvSpPr/>
          <p:nvPr/>
        </p:nvSpPr>
        <p:spPr>
          <a:xfrm>
            <a:off x="9100080" y="1674000"/>
            <a:ext cx="1546560" cy="3682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#DAYZMANIM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11"/>
          <p:cNvSpPr/>
          <p:nvPr/>
        </p:nvSpPr>
        <p:spPr>
          <a:xfrm>
            <a:off x="4610160" y="1603080"/>
            <a:ext cx="2999520" cy="2999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26"/>
          <p:cNvSpPr/>
          <p:nvPr/>
        </p:nvSpPr>
        <p:spPr>
          <a:xfrm>
            <a:off x="4187880" y="189000"/>
            <a:ext cx="3711960" cy="1291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5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בית כנסת 'יחד'</a:t>
            </a:r>
            <a:br>
              <a:rPr sz="5400"/>
            </a:br>
            <a:r>
              <a:rPr lang="he-IL" sz="2400" b="0" u="none" strike="noStrike">
                <a:solidFill>
                  <a:schemeClr val="accent1"/>
                </a:solidFill>
                <a:effectLst/>
                <a:uFillTx/>
                <a:latin typeface="Aharoni"/>
                <a:cs typeface="Aharoni"/>
              </a:rPr>
              <a:t>נוה שיר, עלי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7"/>
          <p:cNvPicPr/>
          <p:nvPr/>
        </p:nvPicPr>
        <p:blipFill>
          <a:blip r:embed="rId4"/>
          <a:stretch/>
        </p:blipFill>
        <p:spPr>
          <a:xfrm>
            <a:off x="4792680" y="4692240"/>
            <a:ext cx="2634120" cy="181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Rectangle 28"/>
          <p:cNvSpPr/>
          <p:nvPr/>
        </p:nvSpPr>
        <p:spPr>
          <a:xfrm>
            <a:off x="583200" y="4943520"/>
            <a:ext cx="3575160" cy="156168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dtParsha_1"/>
          <p:cNvSpPr/>
          <p:nvPr/>
        </p:nvSpPr>
        <p:spPr>
          <a:xfrm>
            <a:off x="598320" y="5018400"/>
            <a:ext cx="35442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606279"/>
                </a:solidFill>
                <a:effectLst/>
                <a:uFillTx/>
                <a:latin typeface="Microsoft JhengHei UI Light"/>
                <a:ea typeface="Microsoft JhengHei UI Light"/>
              </a:rPr>
              <a:t>#PARSHA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583200" y="1063800"/>
            <a:ext cx="3575160" cy="3542400"/>
          </a:xfrm>
          <a:prstGeom prst="rect">
            <a:avLst/>
          </a:prstGeom>
          <a:solidFill>
            <a:schemeClr val="bg1"/>
          </a:solidFill>
          <a:ln w="95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L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9"/>
          <p:cNvSpPr/>
          <p:nvPr/>
        </p:nvSpPr>
        <p:spPr>
          <a:xfrm>
            <a:off x="699480" y="1144440"/>
            <a:ext cx="3319560" cy="4604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לימוד יומי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dtLimudYomi_0"/>
          <p:cNvSpPr/>
          <p:nvPr/>
        </p:nvSpPr>
        <p:spPr>
          <a:xfrm>
            <a:off x="771480" y="1567080"/>
            <a:ext cx="3247200" cy="3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#LIMUDYOMI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dtMozash_1"/>
          <p:cNvSpPr/>
          <p:nvPr/>
        </p:nvSpPr>
        <p:spPr>
          <a:xfrm>
            <a:off x="1127160" y="5985000"/>
            <a:ext cx="149868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#MOZASH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33"/>
          <p:cNvSpPr/>
          <p:nvPr/>
        </p:nvSpPr>
        <p:spPr>
          <a:xfrm>
            <a:off x="2333160" y="5985000"/>
            <a:ext cx="130932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צאת שבת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dtNerot_1"/>
          <p:cNvSpPr/>
          <p:nvPr/>
        </p:nvSpPr>
        <p:spPr>
          <a:xfrm>
            <a:off x="1130040" y="5653800"/>
            <a:ext cx="120204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 rtl="1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#NEROT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2"/>
          <p:cNvSpPr/>
          <p:nvPr/>
        </p:nvSpPr>
        <p:spPr>
          <a:xfrm>
            <a:off x="2143800" y="5656320"/>
            <a:ext cx="1503000" cy="3988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he-IL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</a:rPr>
              <a:t>הדלקת נרות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icrosoft JhengHei UI Light"/>
                <a:ea typeface="Microsoft JhengHei UI Light"/>
              </a:rPr>
              <a:t>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6CA9298-AA82-1579-EB6C-610A46E7946B}"/>
              </a:ext>
            </a:extLst>
          </p:cNvPr>
          <p:cNvSpPr/>
          <p:nvPr/>
        </p:nvSpPr>
        <p:spPr>
          <a:xfrm>
            <a:off x="895140" y="2874960"/>
            <a:ext cx="2873880" cy="554040"/>
          </a:xfrm>
          <a:prstGeom prst="rect">
            <a:avLst/>
          </a:prstGeom>
          <a:solidFill>
            <a:srgbClr val="000000"/>
          </a:solidFill>
          <a:ln>
            <a:solidFill>
              <a:srgbClr val="FFFFFF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#</a:t>
            </a:r>
            <a:r>
              <a:rPr lang="en-US" dirty="0">
                <a:solidFill>
                  <a:schemeClr val="lt1"/>
                </a:solidFill>
              </a:rPr>
              <a:t> #HIDDEN _</a:t>
            </a:r>
            <a:r>
              <a:rPr lang="en-US" sz="1800" b="0" u="none" strike="noStrike" dirty="0">
                <a:solidFill>
                  <a:schemeClr val="lt1"/>
                </a:solidFill>
                <a:effectLst/>
                <a:uFillTx/>
                <a:latin typeface="Calibri"/>
              </a:rPr>
              <a:t>CHOLONLY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advTm="5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BDF163-A326-A48D-78C5-8A59F580915C}"/>
              </a:ext>
            </a:extLst>
          </p:cNvPr>
          <p:cNvSpPr txBox="1"/>
          <p:nvPr/>
        </p:nvSpPr>
        <p:spPr>
          <a:xfrm>
            <a:off x="179294" y="98612"/>
            <a:ext cx="117079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#CONFIG:{</a:t>
            </a:r>
          </a:p>
          <a:p>
            <a:r>
              <a:rPr lang="en-US" dirty="0"/>
              <a:t>"clock_tick_seconds": 1.0,</a:t>
            </a:r>
          </a:p>
          <a:p>
            <a:r>
              <a:rPr lang="en-US" dirty="0"/>
              <a:t>"</a:t>
            </a:r>
            <a:r>
              <a:rPr lang="he-IL" dirty="0"/>
              <a:t>_</a:t>
            </a:r>
            <a:r>
              <a:rPr lang="en-US" dirty="0" err="1"/>
              <a:t>mock_start_datetime</a:t>
            </a:r>
            <a:r>
              <a:rPr lang="en-US" dirty="0"/>
              <a:t>": "2026-03-28T14:30:00",</a:t>
            </a:r>
          </a:p>
          <a:p>
            <a:r>
              <a:rPr lang="en-US" dirty="0"/>
              <a:t>"</a:t>
            </a:r>
            <a:r>
              <a:rPr lang="en-US" dirty="0" err="1"/>
              <a:t>debug_repaint_lock_controllers</a:t>
            </a:r>
            <a:r>
              <a:rPr lang="en-US" dirty="0"/>
              <a:t>": false,</a:t>
            </a:r>
          </a:p>
          <a:p>
            <a:r>
              <a:rPr lang="" dirty="0"/>
              <a:t>"debug_skip_slideshow": true,</a:t>
            </a:r>
            <a:endParaRPr lang="en-US" dirty="0"/>
          </a:p>
          <a:p>
            <a:r>
              <a:rPr lang="en-US" dirty="0"/>
              <a:t>"</a:t>
            </a:r>
            <a:r>
              <a:rPr lang="en-US" dirty="0" err="1"/>
              <a:t>clock_style</a:t>
            </a:r>
            <a:r>
              <a:rPr lang="en-US" dirty="0"/>
              <a:t>":{</a:t>
            </a:r>
            <a:r>
              <a:rPr lang="" dirty="0"/>
              <a:t>"hour_color": 0</a:t>
            </a:r>
            <a:r>
              <a:rPr lang="en-US" dirty="0"/>
              <a:t>}</a:t>
            </a:r>
          </a:p>
          <a:p>
            <a:r>
              <a:rPr lang="en-US" dirty="0"/>
              <a:t>}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06289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1">
            <a:extLst>
              <a:ext uri="{FF2B5EF4-FFF2-40B4-BE49-F238E27FC236}">
                <a16:creationId xmlns:a16="http://schemas.microsoft.com/office/drawing/2014/main" id="{959CCB4F-1C1F-193A-9204-B942B10A6EF3}"/>
              </a:ext>
            </a:extLst>
          </p:cNvPr>
          <p:cNvSpPr/>
          <p:nvPr/>
        </p:nvSpPr>
        <p:spPr>
          <a:xfrm>
            <a:off x="4793673" y="1173018"/>
            <a:ext cx="2604654" cy="264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dtHebDate_0">
            <a:extLst>
              <a:ext uri="{FF2B5EF4-FFF2-40B4-BE49-F238E27FC236}">
                <a16:creationId xmlns:a16="http://schemas.microsoft.com/office/drawing/2014/main" id="{97D3611B-0B83-7D52-1E01-096A0B432B66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21E2798-C075-2CEA-C463-8044C36F360A}"/>
              </a:ext>
            </a:extLst>
          </p:cNvPr>
          <p:cNvSpPr/>
          <p:nvPr/>
        </p:nvSpPr>
        <p:spPr>
          <a:xfrm>
            <a:off x="8358818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תפילה: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F856B9BC-89D9-64C0-40EB-4342AEF1672B}"/>
              </a:ext>
            </a:extLst>
          </p:cNvPr>
          <p:cNvSpPr/>
          <p:nvPr/>
        </p:nvSpPr>
        <p:spPr>
          <a:xfrm>
            <a:off x="249382" y="133696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5284ADA-8883-D97A-33A2-9053D8FA653B}"/>
              </a:ext>
            </a:extLst>
          </p:cNvPr>
          <p:cNvSpPr/>
          <p:nvPr/>
        </p:nvSpPr>
        <p:spPr>
          <a:xfrm>
            <a:off x="249382" y="3537986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29C7E859-CAAF-4F6B-4D7F-FA1D72736937}"/>
              </a:ext>
            </a:extLst>
          </p:cNvPr>
          <p:cNvSpPr/>
          <p:nvPr/>
        </p:nvSpPr>
        <p:spPr>
          <a:xfrm>
            <a:off x="8482817" y="1791010"/>
            <a:ext cx="3338494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algn="r" defTabSz="914400" rtl="1">
              <a:spcAft>
                <a:spcPts val="600"/>
              </a:spcAft>
            </a:pPr>
            <a:r>
              <a:rPr lang="he-IL" sz="3200" b="1" u="none" strike="noStrike" dirty="0">
                <a:effectLst/>
                <a:uFillTx/>
                <a:latin typeface="Calibri"/>
              </a:rPr>
              <a:t>#</a:t>
            </a:r>
            <a:r>
              <a:rPr lang="en-US" sz="3200" b="1" u="none" strike="noStrike" dirty="0">
                <a:effectLst/>
                <a:uFillTx/>
                <a:latin typeface="Calibri"/>
              </a:rPr>
              <a:t>CMD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b="1" u="none" strike="noStrike" dirty="0" err="1">
                <a:effectLst/>
                <a:uFillTx/>
                <a:latin typeface="Calibri"/>
              </a:rPr>
              <a:t>chol_desc</a:t>
            </a:r>
            <a:r>
              <a:rPr lang="he-IL" sz="3200" b="1" u="none" strike="noStrike" dirty="0">
                <a:effectLst/>
                <a:uFillTx/>
                <a:latin typeface="Calibri"/>
              </a:rPr>
              <a:t>&gt;</a:t>
            </a:r>
            <a:endParaRPr lang="en-US" sz="3200" b="1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B81FB427-B9C7-403B-9AC5-BCC0E90AE4EA}"/>
              </a:ext>
            </a:extLst>
          </p:cNvPr>
          <p:cNvSpPr/>
          <p:nvPr/>
        </p:nvSpPr>
        <p:spPr>
          <a:xfrm>
            <a:off x="8482817" y="1789192"/>
            <a:ext cx="3338493" cy="477128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rmAutofit/>
          </a:bodyPr>
          <a:lstStyle/>
          <a:p>
            <a:pPr defTabSz="914400" rtl="1">
              <a:spcAft>
                <a:spcPts val="600"/>
              </a:spcAft>
            </a:pPr>
            <a:r>
              <a:rPr lang="he-IL" sz="3200" u="none" strike="noStrike" dirty="0">
                <a:effectLst/>
                <a:uFillTx/>
                <a:latin typeface="Calibri"/>
              </a:rPr>
              <a:t>#</a:t>
            </a:r>
            <a:r>
              <a:rPr lang="en-US" sz="3200" u="none" strike="noStrike" dirty="0">
                <a:effectLst/>
                <a:uFillTx/>
                <a:latin typeface="Calibri"/>
              </a:rPr>
              <a:t>CMD</a:t>
            </a:r>
            <a:r>
              <a:rPr lang="he-IL" sz="3200" u="none" strike="noStrike" dirty="0">
                <a:effectLst/>
                <a:uFillTx/>
                <a:latin typeface="Calibri"/>
              </a:rPr>
              <a:t>:&lt;</a:t>
            </a:r>
            <a:r>
              <a:rPr lang="en-US" sz="3200" u="none" strike="noStrike" dirty="0" err="1">
                <a:effectLst/>
                <a:uFillTx/>
                <a:latin typeface="Calibri"/>
              </a:rPr>
              <a:t>chol_times</a:t>
            </a:r>
            <a:r>
              <a:rPr lang="he-IL" sz="3200" u="none" strike="noStrike" dirty="0">
                <a:effectLst/>
                <a:uFillTx/>
                <a:latin typeface="Calibri"/>
              </a:rPr>
              <a:t>&gt;</a:t>
            </a:r>
            <a:endParaRPr lang="en-US" sz="3200" u="none" strike="noStrike" dirty="0">
              <a:effectLst/>
              <a:uFillTx/>
              <a:latin typeface="Arial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C92B34F-A67C-E1E6-40FB-10EEE9AE6379}"/>
              </a:ext>
            </a:extLst>
          </p:cNvPr>
          <p:cNvSpPr/>
          <p:nvPr/>
        </p:nvSpPr>
        <p:spPr>
          <a:xfrm>
            <a:off x="249382" y="1774209"/>
            <a:ext cx="3583800" cy="1666310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עלות השחר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#ALOS72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חצות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#CHAZOT</a:t>
            </a:r>
            <a:endParaRPr lang="he-IL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</a:p>
          <a:p>
            <a:pPr algn="ctr" defTabSz="914400" rtl="1">
              <a:lnSpc>
                <a:spcPts val="2500"/>
              </a:lnSpc>
            </a:pPr>
            <a:r>
              <a:rPr lang="he-IL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צאת הכוכבים - 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#TZAISYESHIVA</a:t>
            </a:r>
            <a:endParaRPr lang="en-US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9BB994-3E83-36F9-40E4-B53B2C763F0B}"/>
              </a:ext>
            </a:extLst>
          </p:cNvPr>
          <p:cNvSpPr/>
          <p:nvPr/>
        </p:nvSpPr>
        <p:spPr>
          <a:xfrm>
            <a:off x="249382" y="3981586"/>
            <a:ext cx="3583800" cy="2578887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  <p:sp>
        <p:nvSpPr>
          <p:cNvPr id="2" name="dtHebDate_0">
            <a:extLst>
              <a:ext uri="{FF2B5EF4-FFF2-40B4-BE49-F238E27FC236}">
                <a16:creationId xmlns:a16="http://schemas.microsoft.com/office/drawing/2014/main" id="{5E271C63-5032-335F-BC01-3E51ADCBB7A1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tHebDate_0">
            <a:extLst>
              <a:ext uri="{FF2B5EF4-FFF2-40B4-BE49-F238E27FC236}">
                <a16:creationId xmlns:a16="http://schemas.microsoft.com/office/drawing/2014/main" id="{63B35B13-BDA7-2382-2C9B-1F1EB7256171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E9320BB-CF23-FCB3-EB65-5422013905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51741" y="7055340"/>
            <a:ext cx="3330636" cy="258904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B0FEF4-09AE-B433-019B-3D1F4C4DDED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15953" y="4037958"/>
            <a:ext cx="2160087" cy="16791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8E8C98-7C36-22C8-1FA7-5969DA1D4A82}"/>
              </a:ext>
            </a:extLst>
          </p:cNvPr>
          <p:cNvSpPr/>
          <p:nvPr/>
        </p:nvSpPr>
        <p:spPr>
          <a:xfrm>
            <a:off x="4143369" y="5663360"/>
            <a:ext cx="3905256" cy="460211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2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9AEEA-9FE9-6208-420A-CA3BC69ECBDC}"/>
              </a:ext>
            </a:extLst>
          </p:cNvPr>
          <p:cNvSpPr/>
          <p:nvPr/>
        </p:nvSpPr>
        <p:spPr>
          <a:xfrm>
            <a:off x="4304097" y="6038708"/>
            <a:ext cx="35838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  <a:endParaRPr lang="en-US" sz="1400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977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ABA875F-9D5A-2053-BF6E-F66A8DA76D40}"/>
              </a:ext>
            </a:extLst>
          </p:cNvPr>
          <p:cNvSpPr/>
          <p:nvPr/>
        </p:nvSpPr>
        <p:spPr>
          <a:xfrm>
            <a:off x="3189680" y="1161936"/>
            <a:ext cx="5815818" cy="5506458"/>
          </a:xfrm>
          <a:prstGeom prst="roundRect">
            <a:avLst>
              <a:gd name="adj" fmla="val 0"/>
            </a:avLst>
          </a:prstGeom>
          <a:solidFill>
            <a:srgbClr val="FAF4E3"/>
          </a:solidFill>
          <a:ln w="69850" cap="flat" cmpd="sng" algn="ctr">
            <a:solidFill>
              <a:srgbClr val="E2F0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FCFE9F0-3614-5B24-3744-8AE0D622E75E}"/>
              </a:ext>
            </a:extLst>
          </p:cNvPr>
          <p:cNvSpPr/>
          <p:nvPr/>
        </p:nvSpPr>
        <p:spPr>
          <a:xfrm>
            <a:off x="3279777" y="1752601"/>
            <a:ext cx="5641978" cy="4814006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69850" cap="flat" cmpd="sng" algn="ctr">
            <a:solidFill>
              <a:srgbClr val="E2F0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63443DA7-67B7-7E86-9229-3920E3E5F324}"/>
              </a:ext>
            </a:extLst>
          </p:cNvPr>
          <p:cNvSpPr/>
          <p:nvPr/>
        </p:nvSpPr>
        <p:spPr>
          <a:xfrm>
            <a:off x="9166221" y="4316459"/>
            <a:ext cx="2838837" cy="2357044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69850" cap="flat" cmpd="sng" algn="ctr">
            <a:solidFill>
              <a:srgbClr val="FAF4E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4BCB5AA4-C9ED-2095-4A08-F6DB6E482463}"/>
              </a:ext>
            </a:extLst>
          </p:cNvPr>
          <p:cNvSpPr/>
          <p:nvPr/>
        </p:nvSpPr>
        <p:spPr>
          <a:xfrm>
            <a:off x="9166221" y="1161936"/>
            <a:ext cx="2829315" cy="2930148"/>
          </a:xfrm>
          <a:prstGeom prst="roundRect">
            <a:avLst>
              <a:gd name="adj" fmla="val 0"/>
            </a:avLst>
          </a:prstGeom>
          <a:solidFill>
            <a:srgbClr val="FAF4E3"/>
          </a:solidFill>
          <a:ln w="69850" cap="flat" cmpd="sng" algn="ctr">
            <a:solidFill>
              <a:srgbClr val="FAF4E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65BBBDF-34EF-3350-5D8C-89B86681B602}"/>
              </a:ext>
            </a:extLst>
          </p:cNvPr>
          <p:cNvSpPr/>
          <p:nvPr/>
        </p:nvSpPr>
        <p:spPr>
          <a:xfrm>
            <a:off x="186940" y="226164"/>
            <a:ext cx="11818120" cy="767987"/>
          </a:xfrm>
          <a:prstGeom prst="roundRect">
            <a:avLst>
              <a:gd name="adj" fmla="val 0"/>
            </a:avLst>
          </a:prstGeom>
          <a:solidFill>
            <a:srgbClr val="FAF4E3"/>
          </a:solidFill>
          <a:ln w="69850" cap="flat" cmpd="sng" algn="ctr">
            <a:solidFill>
              <a:srgbClr val="E2F0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3D678AA0-A96F-5339-D35E-A017D4083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317477"/>
            <a:ext cx="133350" cy="61912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7F2B7CB-4178-F3A2-5E7B-FBA9E7EBB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3877" y="317477"/>
            <a:ext cx="133350" cy="619125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0793E57D-3C94-4AC7-C149-6DA983A963BB}"/>
              </a:ext>
            </a:extLst>
          </p:cNvPr>
          <p:cNvGrpSpPr/>
          <p:nvPr/>
        </p:nvGrpSpPr>
        <p:grpSpPr>
          <a:xfrm>
            <a:off x="9307899" y="4186696"/>
            <a:ext cx="2536436" cy="2536436"/>
            <a:chOff x="8654743" y="3502910"/>
            <a:chExt cx="3098224" cy="309822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AC478F-6641-35A7-E421-88089C0579F4}"/>
                </a:ext>
              </a:extLst>
            </p:cNvPr>
            <p:cNvSpPr/>
            <p:nvPr/>
          </p:nvSpPr>
          <p:spPr>
            <a:xfrm>
              <a:off x="8654743" y="3502910"/>
              <a:ext cx="3098224" cy="3098224"/>
            </a:xfrm>
            <a:prstGeom prst="ellipse">
              <a:avLst/>
            </a:prstGeom>
            <a:solidFill>
              <a:schemeClr val="bg1"/>
            </a:solidFill>
            <a:ln w="127000" cap="flat" cmpd="sng" algn="ctr">
              <a:solidFill>
                <a:srgbClr val="E2F0D9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BC09833-B6B5-704E-7221-760FA878CC48}"/>
                </a:ext>
              </a:extLst>
            </p:cNvPr>
            <p:cNvSpPr/>
            <p:nvPr/>
          </p:nvSpPr>
          <p:spPr>
            <a:xfrm>
              <a:off x="8680235" y="3533288"/>
              <a:ext cx="3042352" cy="3042352"/>
            </a:xfrm>
            <a:prstGeom prst="ellipse">
              <a:avLst/>
            </a:prstGeom>
            <a:solidFill>
              <a:schemeClr val="bg1"/>
            </a:solidFill>
            <a:ln w="127000" cap="flat" cmpd="sng" algn="ctr">
              <a:solidFill>
                <a:srgbClr val="00206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609E623-0778-ADD8-33F0-2AB1F5021D26}"/>
              </a:ext>
            </a:extLst>
          </p:cNvPr>
          <p:cNvSpPr/>
          <p:nvPr/>
        </p:nvSpPr>
        <p:spPr>
          <a:xfrm>
            <a:off x="3251200" y="1098436"/>
            <a:ext cx="5626100" cy="7229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32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32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A2CA2829-FDAA-CC0B-ABC9-CEADD1F190EC}"/>
              </a:ext>
            </a:extLst>
          </p:cNvPr>
          <p:cNvSpPr/>
          <p:nvPr/>
        </p:nvSpPr>
        <p:spPr>
          <a:xfrm>
            <a:off x="3321824" y="1884861"/>
            <a:ext cx="5555475" cy="46817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3600" u="none" strike="noStrike" dirty="0">
                <a:solidFill>
                  <a:srgbClr val="FAF4E3"/>
                </a:solidFill>
                <a:effectLst/>
                <a:uFillTx/>
                <a:latin typeface="Calibri"/>
              </a:rPr>
              <a:t>#</a:t>
            </a:r>
            <a:r>
              <a:rPr lang="en-US" sz="3600" u="none" strike="noStrike" dirty="0">
                <a:solidFill>
                  <a:srgbClr val="FAF4E3"/>
                </a:solidFill>
                <a:effectLst/>
                <a:uFillTx/>
                <a:latin typeface="Calibri"/>
              </a:rPr>
              <a:t>CMD</a:t>
            </a:r>
            <a:r>
              <a:rPr lang="he-IL" sz="3600" u="none" strike="noStrike" dirty="0">
                <a:solidFill>
                  <a:srgbClr val="FAF4E3"/>
                </a:solidFill>
                <a:effectLst/>
                <a:uFillTx/>
                <a:latin typeface="Calibri"/>
              </a:rPr>
              <a:t>:&lt;</a:t>
            </a:r>
            <a:r>
              <a:rPr lang="en-US" sz="3600" u="none" strike="noStrike" dirty="0" err="1">
                <a:solidFill>
                  <a:srgbClr val="FAF4E3"/>
                </a:solidFill>
                <a:effectLst/>
                <a:uFillTx/>
                <a:latin typeface="Calibri"/>
              </a:rPr>
              <a:t>chol</a:t>
            </a:r>
            <a:r>
              <a:rPr lang="he-IL" sz="3600" u="none" strike="noStrike" dirty="0">
                <a:solidFill>
                  <a:srgbClr val="FAF4E3"/>
                </a:solidFill>
                <a:effectLst/>
                <a:uFillTx/>
                <a:latin typeface="Calibri"/>
              </a:rPr>
              <a:t>&gt;</a:t>
            </a:r>
            <a:endParaRPr lang="en-US" sz="3600" u="none" strike="noStrike" dirty="0">
              <a:solidFill>
                <a:srgbClr val="FAF4E3"/>
              </a:solidFill>
              <a:effectLst/>
              <a:uFillTx/>
              <a:latin typeface="Arial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FC74106-B75D-6DCC-6E33-23FC6C010586}"/>
              </a:ext>
            </a:extLst>
          </p:cNvPr>
          <p:cNvSpPr/>
          <p:nvPr/>
        </p:nvSpPr>
        <p:spPr>
          <a:xfrm>
            <a:off x="186940" y="4316459"/>
            <a:ext cx="2826138" cy="2357044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69850" cap="flat" cmpd="sng" algn="ctr">
            <a:solidFill>
              <a:srgbClr val="FAF4E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1DF3889-91E9-9032-34F7-9CFDF3841985}"/>
              </a:ext>
            </a:extLst>
          </p:cNvPr>
          <p:cNvSpPr/>
          <p:nvPr/>
        </p:nvSpPr>
        <p:spPr>
          <a:xfrm>
            <a:off x="9213854" y="3452397"/>
            <a:ext cx="2664411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14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1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  <a:endParaRPr lang="en-US" sz="1400" u="none" strike="noStrike" dirty="0"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angle 11">
            <a:extLst>
              <a:ext uri="{FF2B5EF4-FFF2-40B4-BE49-F238E27FC236}">
                <a16:creationId xmlns:a16="http://schemas.microsoft.com/office/drawing/2014/main" id="{B7F77739-78CD-3EE2-AB95-B92E6BCEF58F}"/>
              </a:ext>
            </a:extLst>
          </p:cNvPr>
          <p:cNvSpPr/>
          <p:nvPr/>
        </p:nvSpPr>
        <p:spPr>
          <a:xfrm>
            <a:off x="9366869" y="4259626"/>
            <a:ext cx="2408768" cy="24087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dtHebDate_0">
            <a:extLst>
              <a:ext uri="{FF2B5EF4-FFF2-40B4-BE49-F238E27FC236}">
                <a16:creationId xmlns:a16="http://schemas.microsoft.com/office/drawing/2014/main" id="{46ADA304-E8E7-F476-8248-AB5163ACCCBF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58" name="dtHebDate_0">
            <a:extLst>
              <a:ext uri="{FF2B5EF4-FFF2-40B4-BE49-F238E27FC236}">
                <a16:creationId xmlns:a16="http://schemas.microsoft.com/office/drawing/2014/main" id="{F0C62599-1767-9F41-BE06-290355C298B4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dtHebDate_0">
            <a:extLst>
              <a:ext uri="{FF2B5EF4-FFF2-40B4-BE49-F238E27FC236}">
                <a16:creationId xmlns:a16="http://schemas.microsoft.com/office/drawing/2014/main" id="{CFA2B258-8BD7-82D9-A344-B1317F35FCBD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AB362A89-5CC7-BEE6-CE36-0F2502067525}"/>
              </a:ext>
            </a:extLst>
          </p:cNvPr>
          <p:cNvSpPr/>
          <p:nvPr/>
        </p:nvSpPr>
        <p:spPr>
          <a:xfrm>
            <a:off x="9166221" y="1277624"/>
            <a:ext cx="2838837" cy="12604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זמני היום:</a:t>
            </a:r>
            <a:b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#DAYZMANIM</a:t>
            </a:r>
          </a:p>
          <a:p>
            <a:pPr algn="ctr" defTabSz="914400" rtl="1">
              <a:lnSpc>
                <a:spcPct val="100000"/>
              </a:lnSpc>
            </a:pP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4F57B3-0F68-5DAB-1071-97E1CFFFEB45}"/>
              </a:ext>
            </a:extLst>
          </p:cNvPr>
          <p:cNvSpPr/>
          <p:nvPr/>
        </p:nvSpPr>
        <p:spPr>
          <a:xfrm>
            <a:off x="196465" y="1161936"/>
            <a:ext cx="2816614" cy="2930148"/>
          </a:xfrm>
          <a:prstGeom prst="roundRect">
            <a:avLst>
              <a:gd name="adj" fmla="val 0"/>
            </a:avLst>
          </a:prstGeom>
          <a:solidFill>
            <a:srgbClr val="FAF4E3"/>
          </a:solidFill>
          <a:ln w="69850" cap="flat" cmpd="sng" algn="ctr">
            <a:solidFill>
              <a:srgbClr val="FAF4E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AA0FCFD6-7EF7-B30C-6667-0890174B9988}"/>
              </a:ext>
            </a:extLst>
          </p:cNvPr>
          <p:cNvSpPr/>
          <p:nvPr/>
        </p:nvSpPr>
        <p:spPr>
          <a:xfrm>
            <a:off x="109542" y="4234847"/>
            <a:ext cx="2919415" cy="248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2000" dirty="0">
                <a:solidFill>
                  <a:srgbClr val="FAF4E3"/>
                </a:solidFill>
                <a:latin typeface="Arial"/>
              </a:rPr>
              <a:t>קהילת מעשה ניסים </a:t>
            </a:r>
            <a:br>
              <a:rPr lang="en-US" sz="2000" dirty="0">
                <a:solidFill>
                  <a:srgbClr val="FAF4E3"/>
                </a:solidFill>
                <a:latin typeface="Arial"/>
              </a:rPr>
            </a:br>
            <a:r>
              <a:rPr lang="he-IL" sz="2000" dirty="0">
                <a:solidFill>
                  <a:srgbClr val="FAF4E3"/>
                </a:solidFill>
                <a:latin typeface="Arial"/>
              </a:rPr>
              <a:t>מברכים את כל אורחינו בברכת שבת שלום!</a:t>
            </a:r>
            <a:endParaRPr lang="en-US" sz="2000" u="none" strike="noStrike" dirty="0">
              <a:solidFill>
                <a:srgbClr val="FAF4E3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44285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1B1FB30-B867-C5A8-A6A5-8BF41F8B5A61}"/>
              </a:ext>
            </a:extLst>
          </p:cNvPr>
          <p:cNvSpPr/>
          <p:nvPr/>
        </p:nvSpPr>
        <p:spPr>
          <a:xfrm>
            <a:off x="3251200" y="1286396"/>
            <a:ext cx="5626100" cy="722925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 lnSpcReduction="10000"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#</a:t>
            </a:r>
            <a:r>
              <a:rPr lang="en-US" sz="44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PARSHA</a:t>
            </a:r>
            <a:endParaRPr lang="en-US" sz="44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Rectangle 2">
            <a:extLst>
              <a:ext uri="{FF2B5EF4-FFF2-40B4-BE49-F238E27FC236}">
                <a16:creationId xmlns:a16="http://schemas.microsoft.com/office/drawing/2014/main" id="{6C501901-BF39-C62F-8D1E-A71E3C1A5985}"/>
              </a:ext>
            </a:extLst>
          </p:cNvPr>
          <p:cNvSpPr/>
          <p:nvPr/>
        </p:nvSpPr>
        <p:spPr>
          <a:xfrm>
            <a:off x="3412915" y="2024561"/>
            <a:ext cx="5121486" cy="4542045"/>
          </a:xfrm>
          <a:prstGeom prst="rect">
            <a:avLst/>
          </a:prstGeom>
          <a:noFill/>
          <a:ln w="0">
            <a:noFill/>
          </a:ln>
          <a:effectLst>
            <a:outerShdw blurRad="50800" dist="38100" dir="2700000" algn="tl" rotWithShape="0">
              <a:prstClr val="black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CMD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:&lt;</a:t>
            </a:r>
            <a:r>
              <a:rPr lang="en-US" sz="3200" b="1" dirty="0" err="1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shabbos</a:t>
            </a:r>
            <a:r>
              <a:rPr lang="he-IL" sz="3200" b="1" u="none" strike="noStrike" dirty="0">
                <a:solidFill>
                  <a:srgbClr val="FAF4E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endParaRPr lang="en-US" sz="3200" b="1" u="none" strike="noStrike" dirty="0">
              <a:solidFill>
                <a:srgbClr val="FAF4E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11">
            <a:extLst>
              <a:ext uri="{FF2B5EF4-FFF2-40B4-BE49-F238E27FC236}">
                <a16:creationId xmlns:a16="http://schemas.microsoft.com/office/drawing/2014/main" id="{51893EF7-7CCE-E3CE-BA57-30A1AA21A090}"/>
              </a:ext>
            </a:extLst>
          </p:cNvPr>
          <p:cNvSpPr/>
          <p:nvPr/>
        </p:nvSpPr>
        <p:spPr>
          <a:xfrm>
            <a:off x="9494519" y="4411980"/>
            <a:ext cx="2148841" cy="21622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FF0000"/>
                </a:solidFill>
                <a:effectLst/>
                <a:uFillTx/>
                <a:latin typeface="Calibri"/>
              </a:rPr>
              <a:t>#ANCLOCK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dtHebDate_0">
            <a:extLst>
              <a:ext uri="{FF2B5EF4-FFF2-40B4-BE49-F238E27FC236}">
                <a16:creationId xmlns:a16="http://schemas.microsoft.com/office/drawing/2014/main" id="{59550F5E-D74A-6FA5-4B8F-04025C162451}"/>
              </a:ext>
            </a:extLst>
          </p:cNvPr>
          <p:cNvSpPr/>
          <p:nvPr/>
        </p:nvSpPr>
        <p:spPr>
          <a:xfrm>
            <a:off x="7976846" y="179873"/>
            <a:ext cx="4158004" cy="8393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#HEBDATE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#DAYINFO:n</a:t>
            </a:r>
          </a:p>
        </p:txBody>
      </p:sp>
      <p:sp>
        <p:nvSpPr>
          <p:cNvPr id="30" name="dtHebDate_0">
            <a:extLst>
              <a:ext uri="{FF2B5EF4-FFF2-40B4-BE49-F238E27FC236}">
                <a16:creationId xmlns:a16="http://schemas.microsoft.com/office/drawing/2014/main" id="{179FDD16-5E45-6FF0-2EBB-CED2A54286D7}"/>
              </a:ext>
            </a:extLst>
          </p:cNvPr>
          <p:cNvSpPr/>
          <p:nvPr/>
        </p:nvSpPr>
        <p:spPr>
          <a:xfrm>
            <a:off x="419048" y="179872"/>
            <a:ext cx="3414133" cy="8393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#DICLOCK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dtHebDate_0">
            <a:extLst>
              <a:ext uri="{FF2B5EF4-FFF2-40B4-BE49-F238E27FC236}">
                <a16:creationId xmlns:a16="http://schemas.microsoft.com/office/drawing/2014/main" id="{92369504-10A6-286A-00EE-EB27E26C9863}"/>
              </a:ext>
            </a:extLst>
          </p:cNvPr>
          <p:cNvSpPr/>
          <p:nvPr/>
        </p:nvSpPr>
        <p:spPr>
          <a:xfrm>
            <a:off x="4097959" y="181691"/>
            <a:ext cx="3996079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he-IL" sz="20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בית הכנסת הספרדי</a:t>
            </a:r>
          </a:p>
          <a:p>
            <a:pPr algn="ctr" defTabSz="914400">
              <a:lnSpc>
                <a:spcPct val="100000"/>
              </a:lnSpc>
            </a:pPr>
            <a:r>
              <a:rPr lang="he-IL" sz="2400" b="1" u="none" strike="noStrike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</a:rPr>
              <a:t>מעשה ניסים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6BEA0ADC-CC12-67FC-3996-D7F61E283000}"/>
              </a:ext>
            </a:extLst>
          </p:cNvPr>
          <p:cNvSpPr/>
          <p:nvPr/>
        </p:nvSpPr>
        <p:spPr>
          <a:xfrm>
            <a:off x="9088821" y="1277624"/>
            <a:ext cx="2993638" cy="2676202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rtl="1"/>
            <a:r>
              <a:rPr lang="he-IL" sz="2800" b="1" u="none" strike="noStrike" dirty="0">
                <a:solidFill>
                  <a:schemeClr val="accent1"/>
                </a:solidFill>
                <a:uFillTx/>
                <a:latin typeface="Calibri"/>
              </a:rPr>
              <a:t>זמני היום:</a:t>
            </a:r>
            <a:b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זריחה: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#SUNRISE</a:t>
            </a:r>
            <a:b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e-IL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שקיעה:</a:t>
            </a:r>
            <a:r>
              <a:rPr lang="he-IL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#SUNSET</a:t>
            </a:r>
            <a:endParaRPr lang="he-IL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endParaRPr lang="he-IL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הדלקת נרות: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#SHABBOS-30</a:t>
            </a:r>
            <a:endParaRPr lang="he-I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1"/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MOZASHTITLE</a:t>
            </a:r>
            <a:r>
              <a:rPr lang="he-IL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he-IL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#MOZASH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D92A2ECE-DC18-0680-A816-1FEAD62D9D5A}"/>
              </a:ext>
            </a:extLst>
          </p:cNvPr>
          <p:cNvSpPr/>
          <p:nvPr/>
        </p:nvSpPr>
        <p:spPr>
          <a:xfrm>
            <a:off x="109542" y="4234847"/>
            <a:ext cx="2919415" cy="248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0">
            <a:normAutofit/>
          </a:bodyPr>
          <a:lstStyle/>
          <a:p>
            <a:pPr algn="ctr" defTabSz="914400" rtl="1">
              <a:spcAft>
                <a:spcPts val="600"/>
              </a:spcAft>
              <a:tabLst>
                <a:tab pos="1257300" algn="r"/>
              </a:tabLst>
            </a:pPr>
            <a:r>
              <a:rPr lang="he-IL" sz="2000" dirty="0">
                <a:solidFill>
                  <a:srgbClr val="FAF4E3"/>
                </a:solidFill>
                <a:latin typeface="Arial"/>
              </a:rPr>
              <a:t>קהילת מעשה ניסים </a:t>
            </a:r>
            <a:br>
              <a:rPr lang="en-US" sz="2000" dirty="0">
                <a:solidFill>
                  <a:srgbClr val="FAF4E3"/>
                </a:solidFill>
                <a:latin typeface="Arial"/>
              </a:rPr>
            </a:br>
            <a:r>
              <a:rPr lang="he-IL" sz="2000" dirty="0">
                <a:solidFill>
                  <a:srgbClr val="FAF4E3"/>
                </a:solidFill>
                <a:latin typeface="Arial"/>
              </a:rPr>
              <a:t>מברכים את כל אורחינו בברכת שבת שלום!</a:t>
            </a:r>
            <a:endParaRPr lang="en-US" sz="2000" u="none" strike="noStrike" dirty="0">
              <a:solidFill>
                <a:srgbClr val="FAF4E3"/>
              </a:solidFill>
              <a:effectLst/>
              <a:uFillTx/>
              <a:latin typeface="Arial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C6DCFF7-3155-7BE1-A07F-53CF75CF7E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D1C24"/>
              </a:clrFrom>
              <a:clrTo>
                <a:srgbClr val="ED1C2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97959" y="215528"/>
            <a:ext cx="987963" cy="767987"/>
          </a:xfrm>
          <a:prstGeom prst="rect">
            <a:avLst/>
          </a:prstGeom>
        </p:spPr>
      </p:pic>
      <p:sp>
        <p:nvSpPr>
          <p:cNvPr id="40" name="Rectangle 2">
            <a:extLst>
              <a:ext uri="{FF2B5EF4-FFF2-40B4-BE49-F238E27FC236}">
                <a16:creationId xmlns:a16="http://schemas.microsoft.com/office/drawing/2014/main" id="{94FA05E9-7FB3-2406-49C0-494AD646C44D}"/>
              </a:ext>
            </a:extLst>
          </p:cNvPr>
          <p:cNvSpPr/>
          <p:nvPr/>
        </p:nvSpPr>
        <p:spPr>
          <a:xfrm>
            <a:off x="-170886" y="1277624"/>
            <a:ext cx="3583800" cy="52176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 rtl="1">
              <a:lnSpc>
                <a:spcPct val="100000"/>
              </a:lnSpc>
            </a:pPr>
            <a:r>
              <a:rPr lang="he-IL" sz="2800" b="1" u="none" strike="noStrike" dirty="0">
                <a:solidFill>
                  <a:schemeClr val="accent1"/>
                </a:solidFill>
                <a:effectLst/>
                <a:uFillTx/>
                <a:latin typeface="Calibri"/>
              </a:rPr>
              <a:t>לימוד יומי:</a:t>
            </a:r>
            <a:endParaRPr lang="en-US" sz="28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EC7C473-78D7-9138-5AF3-4325216DAEA0}"/>
              </a:ext>
            </a:extLst>
          </p:cNvPr>
          <p:cNvSpPr/>
          <p:nvPr/>
        </p:nvSpPr>
        <p:spPr>
          <a:xfrm>
            <a:off x="333728" y="1721225"/>
            <a:ext cx="2574572" cy="2368176"/>
          </a:xfrm>
          <a:prstGeom prst="rect">
            <a:avLst/>
          </a:prstGeom>
          <a:noFill/>
          <a:ln w="0"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בבלי: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#DAFYOMIBV</a:t>
            </a: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ירושלמי: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#DAFYOMIYR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משניות: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#MISHNA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הלכה: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#HALACHA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רמב"ם: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#RAMBAM</a:t>
            </a:r>
            <a:endParaRPr lang="he-IL" u="none" strike="noStrike" dirty="0"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 rtl="1">
              <a:lnSpc>
                <a:spcPts val="2400"/>
              </a:lnSpc>
            </a:pPr>
            <a:r>
              <a:rPr lang="he-IL" b="1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תהילים:</a:t>
            </a:r>
            <a:r>
              <a:rPr lang="he-IL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none" strike="noStrike" dirty="0">
                <a:uFillTx/>
                <a:latin typeface="Arial" panose="020B0604020202020204" pitchFamily="34" charset="0"/>
                <a:cs typeface="Arial" panose="020B0604020202020204" pitchFamily="34" charset="0"/>
              </a:rPr>
              <a:t>#TEHILIM</a:t>
            </a:r>
          </a:p>
        </p:txBody>
      </p:sp>
    </p:spTree>
    <p:extLst>
      <p:ext uri="{BB962C8B-B14F-4D97-AF65-F5344CB8AC3E}">
        <p14:creationId xmlns:p14="http://schemas.microsoft.com/office/powerpoint/2010/main" val="140939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16252</TotalTime>
  <Words>403</Words>
  <Application>Microsoft Office PowerPoint</Application>
  <PresentationFormat>Widescreen</PresentationFormat>
  <Paragraphs>102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Microsoft JhengHei UI Light</vt:lpstr>
      <vt:lpstr>Aharoni</vt:lpstr>
      <vt:lpstr>Aptos</vt:lpstr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Gabbay, Netanel</dc:creator>
  <dc:description/>
  <cp:lastModifiedBy>Gabbay, Netanel</cp:lastModifiedBy>
  <cp:revision>633</cp:revision>
  <dcterms:created xsi:type="dcterms:W3CDTF">2023-04-17T07:02:05Z</dcterms:created>
  <dcterms:modified xsi:type="dcterms:W3CDTF">2026-10-08T06:19:50Z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